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  <p:sldMasterId id="2147483671" r:id="rId2"/>
  </p:sldMasterIdLst>
  <p:notesMasterIdLst>
    <p:notesMasterId r:id="rId1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6"/>
  </p:normalViewPr>
  <p:slideViewPr>
    <p:cSldViewPr snapToGrid="0">
      <p:cViewPr varScale="1">
        <p:scale>
          <a:sx n="146" d="100"/>
          <a:sy n="146" d="100"/>
        </p:scale>
        <p:origin x="664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df871c2ae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3adf871c2ae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df871c2ae_2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g3adf871c2ae_2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df871c2ae_2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g3adf871c2ae_2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df871c2ae_2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g3adf871c2ae_2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dfca1689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adfca1689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df871c2ae_2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g3adf871c2ae_2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df871c2ae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adf871c2ae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e130863e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ae130863e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adf871c2ae_2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g3adf871c2ae_2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e130863e0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ae130863e0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adf871c2ae_2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g3adf871c2ae_2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adf871c2ae_2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g3adf871c2ae_2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df871c2ae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g3adf871c2ae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adf871c2ae_2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g3adf871c2ae_2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722313" y="3305175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body" idx="2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3"/>
          </p:nvPr>
        </p:nvSpPr>
        <p:spPr>
          <a:xfrm>
            <a:off x="4645025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4"/>
          </p:nvPr>
        </p:nvSpPr>
        <p:spPr>
          <a:xfrm>
            <a:off x="4645025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457200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457200" y="1076325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5463778" y="1371600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1272778" y="-609600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>
            <a:spLocks noGrp="1"/>
          </p:cNvSpPr>
          <p:nvPr>
            <p:ph type="subTitle" idx="1"/>
          </p:nvPr>
        </p:nvSpPr>
        <p:spPr>
          <a:xfrm>
            <a:off x="1454400" y="3281604"/>
            <a:ext cx="6235200" cy="16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tr" sz="2400">
                <a:solidFill>
                  <a:schemeClr val="dk1"/>
                </a:solidFill>
              </a:rPr>
              <a:t>Presented by:</a:t>
            </a:r>
            <a:endParaRPr sz="240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</a:pPr>
            <a:r>
              <a:rPr lang="tr" sz="2400">
                <a:solidFill>
                  <a:schemeClr val="dk1"/>
                </a:solidFill>
              </a:rPr>
              <a:t>Mert Sevim</a:t>
            </a:r>
            <a:br>
              <a:rPr lang="tr" sz="2400">
                <a:solidFill>
                  <a:schemeClr val="dk1"/>
                </a:solidFill>
              </a:rPr>
            </a:br>
            <a:r>
              <a:rPr lang="tr" sz="2400">
                <a:solidFill>
                  <a:schemeClr val="dk1"/>
                </a:solidFill>
              </a:rPr>
              <a:t>Kaan Özsoy</a:t>
            </a:r>
            <a:br>
              <a:rPr lang="tr" sz="2400">
                <a:solidFill>
                  <a:schemeClr val="dk1"/>
                </a:solidFill>
              </a:rPr>
            </a:br>
            <a:r>
              <a:rPr lang="tr" sz="2400">
                <a:solidFill>
                  <a:schemeClr val="dk1"/>
                </a:solidFill>
              </a:rPr>
              <a:t>Polat Öztürk</a:t>
            </a:r>
            <a:endParaRPr sz="240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</a:pPr>
            <a:br>
              <a:rPr lang="tr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</p:txBody>
      </p:sp>
      <p:sp>
        <p:nvSpPr>
          <p:cNvPr id="130" name="Google Shape;130;p25"/>
          <p:cNvSpPr txBox="1"/>
          <p:nvPr/>
        </p:nvSpPr>
        <p:spPr>
          <a:xfrm>
            <a:off x="1554475" y="2225475"/>
            <a:ext cx="6135000" cy="9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 sz="3200">
                <a:latin typeface="Calibri"/>
                <a:ea typeface="Calibri"/>
                <a:cs typeface="Calibri"/>
                <a:sym typeface="Calibri"/>
              </a:rPr>
              <a:t>EE 463 </a:t>
            </a:r>
            <a:r>
              <a:rPr lang="t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Hardware Project</a:t>
            </a:r>
            <a:br>
              <a:rPr lang="t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t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DC Motor Driver Term Project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25" title="ee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1663" y="95250"/>
            <a:ext cx="1920675" cy="192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 &amp; Project Objectives</a:t>
            </a:r>
            <a:endParaRPr/>
          </a:p>
        </p:txBody>
      </p:sp>
      <p:sp>
        <p:nvSpPr>
          <p:cNvPr id="137" name="Google Shape;137;p26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t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Goal: Design a power electronic driver for a DC motor.</a:t>
            </a:r>
            <a:endParaRPr sz="2400"/>
          </a:p>
          <a:p>
            <a:pPr marL="45720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t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Adjustable DC output up to 180 V.</a:t>
            </a:r>
            <a:endParaRPr sz="2400"/>
          </a:p>
          <a:p>
            <a:pPr marL="45720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t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Input: 3‑phase AC </a:t>
            </a:r>
            <a:r>
              <a:rPr lang="tr" sz="2400"/>
              <a:t>Voltage</a:t>
            </a:r>
            <a:r>
              <a:rPr lang="t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/>
          </a:p>
          <a:p>
            <a:pPr marL="45720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t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Ripple frequency requirement: f</a:t>
            </a:r>
            <a:r>
              <a:rPr lang="tr" sz="24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</a:t>
            </a:r>
            <a:r>
              <a:rPr lang="tr" sz="2400" baseline="-25000"/>
              <a:t>p</a:t>
            </a:r>
            <a:r>
              <a:rPr lang="tr" sz="24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ple</a:t>
            </a:r>
            <a:r>
              <a:rPr lang="t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&gt; 1 kHz.</a:t>
            </a:r>
            <a:endParaRPr sz="2400"/>
          </a:p>
          <a:p>
            <a:pPr marL="45720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t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Simulations verify performance; components finalized.</a:t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Topology Selection</a:t>
            </a:r>
            <a:endParaRPr/>
          </a:p>
        </p:txBody>
      </p:sp>
      <p:sp>
        <p:nvSpPr>
          <p:cNvPr id="143" name="Google Shape;143;p27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t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Selected Topology: 3‑Phase Diode Rectifier + Buck.</a:t>
            </a:r>
            <a:endParaRPr sz="24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t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Provides ~520 V stable DC bus, high reliability, low cost</a:t>
            </a:r>
            <a:r>
              <a:rPr lang="tr" sz="2400"/>
              <a:t> and easy to implement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8"/>
          <p:cNvSpPr txBox="1">
            <a:spLocks noGrp="1"/>
          </p:cNvSpPr>
          <p:nvPr>
            <p:ph type="title"/>
          </p:nvPr>
        </p:nvSpPr>
        <p:spPr>
          <a:xfrm>
            <a:off x="457200" y="3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Overview</a:t>
            </a:r>
            <a:endParaRPr sz="2800"/>
          </a:p>
        </p:txBody>
      </p:sp>
      <p:sp>
        <p:nvSpPr>
          <p:cNvPr id="149" name="Google Shape;149;p28"/>
          <p:cNvSpPr txBox="1">
            <a:spLocks noGrp="1"/>
          </p:cNvSpPr>
          <p:nvPr>
            <p:ph type="body" idx="1"/>
          </p:nvPr>
        </p:nvSpPr>
        <p:spPr>
          <a:xfrm>
            <a:off x="411475" y="857400"/>
            <a:ext cx="8229600" cy="4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t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3‑Phase rectifier converts 380 V AC → ~520 V DC.</a:t>
            </a:r>
            <a:endParaRPr sz="24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t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Buck converter regulates 0–180 V DC.</a:t>
            </a:r>
            <a:endParaRPr sz="24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t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Motor‑generator pair simulates load.</a:t>
            </a:r>
            <a:endParaRPr sz="24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t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 Ω load connected to generator output.</a:t>
            </a:r>
            <a:endParaRPr sz="2400"/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0" name="Google Shape;15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1825" y="2392600"/>
            <a:ext cx="6280351" cy="275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6" name="Google Shape;15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69150"/>
            <a:ext cx="9144000" cy="40051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8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Simulation: Rectifier Stage</a:t>
            </a:r>
            <a:endParaRPr sz="2800"/>
          </a:p>
        </p:txBody>
      </p:sp>
      <p:sp>
        <p:nvSpPr>
          <p:cNvPr id="162" name="Google Shape;162;p30"/>
          <p:cNvSpPr txBox="1">
            <a:spLocks noGrp="1"/>
          </p:cNvSpPr>
          <p:nvPr>
            <p:ph type="body" idx="1"/>
          </p:nvPr>
        </p:nvSpPr>
        <p:spPr>
          <a:xfrm>
            <a:off x="0" y="868500"/>
            <a:ext cx="4572000" cy="42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t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380 V_LL → peak diode voltage ~540 V.</a:t>
            </a:r>
            <a:endParaRPr sz="24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t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Average output ~530 V DC.</a:t>
            </a:r>
            <a:endParaRPr sz="24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t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 diode current &lt; 60 A.</a:t>
            </a:r>
            <a:endParaRPr sz="24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t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Defines minimum ratings for rectifier hardware.</a:t>
            </a:r>
            <a:endParaRPr sz="2400"/>
          </a:p>
          <a:p>
            <a:pPr marL="342900" lvl="0" indent="0" algn="l" rtl="0">
              <a:spcBef>
                <a:spcPts val="64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3" name="Google Shape;16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095275"/>
            <a:ext cx="4572001" cy="36071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6713" y="719113"/>
            <a:ext cx="4347275" cy="30766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2" y="716250"/>
            <a:ext cx="4347275" cy="3082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1"/>
          <p:cNvSpPr txBox="1"/>
          <p:nvPr/>
        </p:nvSpPr>
        <p:spPr>
          <a:xfrm>
            <a:off x="5660700" y="4049150"/>
            <a:ext cx="26193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Diode current at steady state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31"/>
          <p:cNvSpPr txBox="1"/>
          <p:nvPr/>
        </p:nvSpPr>
        <p:spPr>
          <a:xfrm>
            <a:off x="863975" y="4049150"/>
            <a:ext cx="26193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Diode current at maximum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2538" y="272750"/>
            <a:ext cx="4938924" cy="310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32"/>
          <p:cNvSpPr txBox="1"/>
          <p:nvPr/>
        </p:nvSpPr>
        <p:spPr>
          <a:xfrm>
            <a:off x="3262350" y="3552325"/>
            <a:ext cx="26193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current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3"/>
          <p:cNvSpPr txBox="1">
            <a:spLocks noGrp="1"/>
          </p:cNvSpPr>
          <p:nvPr>
            <p:ph type="title"/>
          </p:nvPr>
        </p:nvSpPr>
        <p:spPr>
          <a:xfrm>
            <a:off x="457200" y="3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Simulation: Buck Converter Stage</a:t>
            </a:r>
            <a:endParaRPr sz="2800"/>
          </a:p>
        </p:txBody>
      </p:sp>
      <p:sp>
        <p:nvSpPr>
          <p:cNvPr id="183" name="Google Shape;183;p33"/>
          <p:cNvSpPr txBox="1">
            <a:spLocks noGrp="1"/>
          </p:cNvSpPr>
          <p:nvPr>
            <p:ph type="body" idx="1"/>
          </p:nvPr>
        </p:nvSpPr>
        <p:spPr>
          <a:xfrm>
            <a:off x="0" y="857400"/>
            <a:ext cx="4572000" cy="42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t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Switching frequency: 10 kHz.</a:t>
            </a:r>
            <a:endParaRPr sz="24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t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 = 2.2 mH, C = 470 μF.</a:t>
            </a:r>
            <a:endParaRPr sz="24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t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Voltage ripple &lt; 1%.</a:t>
            </a:r>
            <a:endParaRPr sz="24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t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Inductor: 0–20 A current, –170 to 370 V voltage swing.</a:t>
            </a:r>
            <a:endParaRPr sz="2400"/>
          </a:p>
          <a:p>
            <a:pPr marL="342900" lvl="0" indent="0" algn="l" rtl="0">
              <a:spcBef>
                <a:spcPts val="64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4" name="Google Shape;18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078675"/>
            <a:ext cx="4572000" cy="2986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4"/>
          <p:cNvSpPr txBox="1"/>
          <p:nvPr/>
        </p:nvSpPr>
        <p:spPr>
          <a:xfrm>
            <a:off x="5566050" y="4049150"/>
            <a:ext cx="28086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Voltage and Current Waveform of Inductor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34"/>
          <p:cNvSpPr txBox="1"/>
          <p:nvPr/>
        </p:nvSpPr>
        <p:spPr>
          <a:xfrm>
            <a:off x="769325" y="4049150"/>
            <a:ext cx="28086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Voltage Waveform of Buck Converter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25" y="720000"/>
            <a:ext cx="4320000" cy="2658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0338" y="720000"/>
            <a:ext cx="4319999" cy="265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5"/>
          <p:cNvSpPr txBox="1">
            <a:spLocks noGrp="1"/>
          </p:cNvSpPr>
          <p:nvPr>
            <p:ph type="title"/>
          </p:nvPr>
        </p:nvSpPr>
        <p:spPr>
          <a:xfrm>
            <a:off x="457200" y="3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Strategy (Cascaded Loops)</a:t>
            </a:r>
            <a:endParaRPr sz="2800"/>
          </a:p>
        </p:txBody>
      </p:sp>
      <p:sp>
        <p:nvSpPr>
          <p:cNvPr id="198" name="Google Shape;198;p35"/>
          <p:cNvSpPr txBox="1">
            <a:spLocks noGrp="1"/>
          </p:cNvSpPr>
          <p:nvPr>
            <p:ph type="body" idx="1"/>
          </p:nvPr>
        </p:nvSpPr>
        <p:spPr>
          <a:xfrm>
            <a:off x="715275" y="857400"/>
            <a:ext cx="7514400" cy="19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457200" lvl="0" indent="-34671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SzPct val="100000"/>
              <a:buChar char="•"/>
            </a:pPr>
            <a:r>
              <a:rPr lang="tr" sz="2400">
                <a:solidFill>
                  <a:schemeClr val="dk1"/>
                </a:solidFill>
              </a:rPr>
              <a:t>Speed loop: speed</a:t>
            </a:r>
            <a:r>
              <a:rPr lang="tr" sz="2400" baseline="-25000"/>
              <a:t>ref</a:t>
            </a:r>
            <a:r>
              <a:rPr lang="tr" sz="2400">
                <a:solidFill>
                  <a:schemeClr val="dk1"/>
                </a:solidFill>
              </a:rPr>
              <a:t> – speed</a:t>
            </a:r>
            <a:r>
              <a:rPr lang="tr" sz="2400" baseline="-25000"/>
              <a:t>measured</a:t>
            </a:r>
            <a:r>
              <a:rPr lang="tr" sz="2400">
                <a:solidFill>
                  <a:schemeClr val="dk1"/>
                </a:solidFill>
              </a:rPr>
              <a:t> → I</a:t>
            </a:r>
            <a:r>
              <a:rPr lang="tr" sz="2400" baseline="-25000">
                <a:solidFill>
                  <a:schemeClr val="dk1"/>
                </a:solidFill>
              </a:rPr>
              <a:t>a</a:t>
            </a:r>
            <a:r>
              <a:rPr lang="tr" sz="2400" baseline="-25000"/>
              <a:t>,</a:t>
            </a:r>
            <a:r>
              <a:rPr lang="tr" sz="2400" baseline="-25000">
                <a:solidFill>
                  <a:schemeClr val="dk1"/>
                </a:solidFill>
              </a:rPr>
              <a:t>ref</a:t>
            </a:r>
            <a:r>
              <a:rPr lang="tr" sz="2400">
                <a:solidFill>
                  <a:schemeClr val="dk1"/>
                </a:solidFill>
              </a:rPr>
              <a:t>.</a:t>
            </a:r>
            <a:endParaRPr sz="2400"/>
          </a:p>
          <a:p>
            <a:pPr marL="457200" lvl="0" indent="-34671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tr" sz="2400">
                <a:solidFill>
                  <a:schemeClr val="dk1"/>
                </a:solidFill>
              </a:rPr>
              <a:t>Current loop: I</a:t>
            </a:r>
            <a:r>
              <a:rPr lang="tr" sz="2400" baseline="-25000">
                <a:solidFill>
                  <a:schemeClr val="dk1"/>
                </a:solidFill>
              </a:rPr>
              <a:t>a</a:t>
            </a:r>
            <a:r>
              <a:rPr lang="tr" sz="2400" baseline="-25000"/>
              <a:t>,</a:t>
            </a:r>
            <a:r>
              <a:rPr lang="tr" sz="2400" baseline="-25000">
                <a:solidFill>
                  <a:schemeClr val="dk1"/>
                </a:solidFill>
              </a:rPr>
              <a:t>ref</a:t>
            </a:r>
            <a:r>
              <a:rPr lang="tr" sz="2400">
                <a:solidFill>
                  <a:schemeClr val="dk1"/>
                </a:solidFill>
              </a:rPr>
              <a:t> – I</a:t>
            </a:r>
            <a:r>
              <a:rPr lang="tr" sz="2400" baseline="-25000">
                <a:solidFill>
                  <a:schemeClr val="dk1"/>
                </a:solidFill>
              </a:rPr>
              <a:t>a</a:t>
            </a:r>
            <a:r>
              <a:rPr lang="tr" sz="2400">
                <a:solidFill>
                  <a:schemeClr val="dk1"/>
                </a:solidFill>
              </a:rPr>
              <a:t> → V</a:t>
            </a:r>
            <a:r>
              <a:rPr lang="tr" sz="2400" baseline="-25000">
                <a:solidFill>
                  <a:schemeClr val="dk1"/>
                </a:solidFill>
              </a:rPr>
              <a:t>a</a:t>
            </a:r>
            <a:r>
              <a:rPr lang="tr" sz="2400" baseline="-25000"/>
              <a:t>,</a:t>
            </a:r>
            <a:r>
              <a:rPr lang="tr" sz="2400" baseline="-25000">
                <a:solidFill>
                  <a:schemeClr val="dk1"/>
                </a:solidFill>
              </a:rPr>
              <a:t>ref</a:t>
            </a:r>
            <a:r>
              <a:rPr lang="tr" sz="2400">
                <a:solidFill>
                  <a:schemeClr val="dk1"/>
                </a:solidFill>
              </a:rPr>
              <a:t>.</a:t>
            </a:r>
            <a:endParaRPr sz="2400"/>
          </a:p>
          <a:p>
            <a:pPr marL="457200" lvl="0" indent="-34671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tr" sz="2400">
                <a:solidFill>
                  <a:schemeClr val="dk1"/>
                </a:solidFill>
              </a:rPr>
              <a:t>PWM: Converts V</a:t>
            </a:r>
            <a:r>
              <a:rPr lang="tr" sz="2400" baseline="-25000"/>
              <a:t>a,</a:t>
            </a:r>
            <a:r>
              <a:rPr lang="tr" sz="2400" baseline="-25000">
                <a:solidFill>
                  <a:schemeClr val="dk1"/>
                </a:solidFill>
              </a:rPr>
              <a:t>ref</a:t>
            </a:r>
            <a:r>
              <a:rPr lang="tr" sz="2400">
                <a:solidFill>
                  <a:schemeClr val="dk1"/>
                </a:solidFill>
              </a:rPr>
              <a:t> to duty ratio at 10 kHz.</a:t>
            </a:r>
            <a:endParaRPr sz="2400"/>
          </a:p>
          <a:p>
            <a:pPr marL="457200" lvl="0" indent="-34671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tr" sz="2400">
                <a:solidFill>
                  <a:schemeClr val="dk1"/>
                </a:solidFill>
              </a:rPr>
              <a:t>Field PI loop regulates field voltage to 180 V.</a:t>
            </a:r>
            <a:endParaRPr sz="2400"/>
          </a:p>
          <a:p>
            <a:pPr marL="457200" lvl="0" indent="-34671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tr" sz="2400">
                <a:solidFill>
                  <a:schemeClr val="dk1"/>
                </a:solidFill>
              </a:rPr>
              <a:t>Soft start via ramped references.</a:t>
            </a:r>
            <a:endParaRPr sz="2658"/>
          </a:p>
        </p:txBody>
      </p:sp>
      <p:pic>
        <p:nvPicPr>
          <p:cNvPr id="199" name="Google Shape;19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7550" y="2812200"/>
            <a:ext cx="5804258" cy="233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6"/>
          <p:cNvSpPr txBox="1">
            <a:spLocks noGrp="1"/>
          </p:cNvSpPr>
          <p:nvPr>
            <p:ph type="title"/>
          </p:nvPr>
        </p:nvSpPr>
        <p:spPr>
          <a:xfrm>
            <a:off x="457200" y="3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Component Selection (Power Stage)</a:t>
            </a:r>
            <a:endParaRPr sz="2800"/>
          </a:p>
        </p:txBody>
      </p:sp>
      <p:sp>
        <p:nvSpPr>
          <p:cNvPr id="205" name="Google Shape;205;p36"/>
          <p:cNvSpPr txBox="1">
            <a:spLocks noGrp="1"/>
          </p:cNvSpPr>
          <p:nvPr>
            <p:ph type="body" idx="1"/>
          </p:nvPr>
        </p:nvSpPr>
        <p:spPr>
          <a:xfrm>
            <a:off x="0" y="857400"/>
            <a:ext cx="9144000" cy="42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t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Rectifier: VUO98‑16NO7 (1600 V / 105 A).</a:t>
            </a:r>
            <a:endParaRPr sz="24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t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MOSFET: IXFH80N65X2 (650 V / 80 A).</a:t>
            </a:r>
            <a:endParaRPr sz="24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t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Freewheeling diode: DSEI30‑06A (600 V / 30 A).</a:t>
            </a:r>
            <a:endParaRPr sz="24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t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Ratings selected for safety margins and fast switching.</a:t>
            </a:r>
            <a:endParaRPr sz="2400"/>
          </a:p>
        </p:txBody>
      </p:sp>
      <p:pic>
        <p:nvPicPr>
          <p:cNvPr id="206" name="Google Shape;206;p36" descr="VUO98-16NO7 3-phase full bridge rectifier" title="VUO98-16NO7 3-phase full bridge rectifier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25" y="2571750"/>
            <a:ext cx="2162175" cy="216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0913" y="2571750"/>
            <a:ext cx="2162175" cy="216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24625" y="2571750"/>
            <a:ext cx="2162175" cy="216217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6"/>
          <p:cNvSpPr txBox="1"/>
          <p:nvPr/>
        </p:nvSpPr>
        <p:spPr>
          <a:xfrm>
            <a:off x="0" y="4789500"/>
            <a:ext cx="26193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1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VUO98-16NO7 3-phase full bridge rectifier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36"/>
          <p:cNvSpPr txBox="1"/>
          <p:nvPr/>
        </p:nvSpPr>
        <p:spPr>
          <a:xfrm>
            <a:off x="3262350" y="4789500"/>
            <a:ext cx="26193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IXFH80N65X2 N-Channel Power MOSFET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6"/>
          <p:cNvSpPr txBox="1"/>
          <p:nvPr/>
        </p:nvSpPr>
        <p:spPr>
          <a:xfrm>
            <a:off x="6296063" y="4789500"/>
            <a:ext cx="26193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t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DSEI30-06A freewheeling diode</a:t>
            </a:r>
            <a:endParaRPr sz="11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7"/>
          <p:cNvSpPr txBox="1">
            <a:spLocks noGrp="1"/>
          </p:cNvSpPr>
          <p:nvPr>
            <p:ph type="title"/>
          </p:nvPr>
        </p:nvSpPr>
        <p:spPr>
          <a:xfrm>
            <a:off x="457200" y="3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Microcontroller &amp; Sensing</a:t>
            </a:r>
            <a:endParaRPr sz="2800"/>
          </a:p>
        </p:txBody>
      </p:sp>
      <p:sp>
        <p:nvSpPr>
          <p:cNvPr id="217" name="Google Shape;217;p37"/>
          <p:cNvSpPr txBox="1">
            <a:spLocks noGrp="1"/>
          </p:cNvSpPr>
          <p:nvPr>
            <p:ph type="body" idx="1"/>
          </p:nvPr>
        </p:nvSpPr>
        <p:spPr>
          <a:xfrm>
            <a:off x="0" y="857400"/>
            <a:ext cx="4572000" cy="42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t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MCU: TI LAUNCHXL‑F28379D for PWM and PI loops.</a:t>
            </a:r>
            <a:endParaRPr sz="24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t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Voltage divider: 550 kΩ / 10 kΩ reduces 180 V to ~3.21 V.</a:t>
            </a:r>
            <a:endParaRPr sz="24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t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Isolation amplifier: TI AMC1200.</a:t>
            </a:r>
            <a:endParaRPr sz="24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t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sensing: ACS758lcb Hall‑effect sensor.</a:t>
            </a:r>
            <a:endParaRPr sz="2400"/>
          </a:p>
        </p:txBody>
      </p:sp>
      <p:pic>
        <p:nvPicPr>
          <p:cNvPr id="218" name="Google Shape;21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4475" y="1194738"/>
            <a:ext cx="4900550" cy="275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8"/>
          <p:cNvSpPr txBox="1">
            <a:spLocks noGrp="1"/>
          </p:cNvSpPr>
          <p:nvPr>
            <p:ph type="title"/>
          </p:nvPr>
        </p:nvSpPr>
        <p:spPr>
          <a:xfrm>
            <a:off x="457200" y="3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 &amp; Bonus Goals</a:t>
            </a:r>
            <a:endParaRPr sz="2800"/>
          </a:p>
        </p:txBody>
      </p:sp>
      <p:sp>
        <p:nvSpPr>
          <p:cNvPr id="224" name="Google Shape;224;p38"/>
          <p:cNvSpPr txBox="1">
            <a:spLocks noGrp="1"/>
          </p:cNvSpPr>
          <p:nvPr>
            <p:ph type="body" idx="1"/>
          </p:nvPr>
        </p:nvSpPr>
        <p:spPr>
          <a:xfrm>
            <a:off x="457200" y="85740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t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Stable DC output with &lt;1% ripple.</a:t>
            </a:r>
            <a:endParaRPr sz="24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t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Simulation achieved 1.4 kW; target 1.6 kW.</a:t>
            </a:r>
            <a:endParaRPr sz="24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t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Supports Tea Bonus and Single‑Supply Bonus.</a:t>
            </a:r>
            <a:endParaRPr sz="24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t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Awaiting hardware feedback for final implementation.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440</Words>
  <Application>Microsoft Macintosh PowerPoint</Application>
  <PresentationFormat>Ekran Gösterisi (16:9)</PresentationFormat>
  <Paragraphs>57</Paragraphs>
  <Slides>14</Slides>
  <Notes>14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2</vt:i4>
      </vt:variant>
      <vt:variant>
        <vt:lpstr>Slayt Başlıkları</vt:lpstr>
      </vt:variant>
      <vt:variant>
        <vt:i4>14</vt:i4>
      </vt:variant>
    </vt:vector>
  </HeadingPairs>
  <TitlesOfParts>
    <vt:vector size="18" baseType="lpstr">
      <vt:lpstr>Arial</vt:lpstr>
      <vt:lpstr>Calibri</vt:lpstr>
      <vt:lpstr>Simple Light</vt:lpstr>
      <vt:lpstr>Office Theme</vt:lpstr>
      <vt:lpstr>PowerPoint Sunusu</vt:lpstr>
      <vt:lpstr>Introduction &amp; Project Objectives</vt:lpstr>
      <vt:lpstr>Topology Selection</vt:lpstr>
      <vt:lpstr>System Overview</vt:lpstr>
      <vt:lpstr>PowerPoint Sunusu</vt:lpstr>
      <vt:lpstr>Simulation: Rectifier Stage</vt:lpstr>
      <vt:lpstr>PowerPoint Sunusu</vt:lpstr>
      <vt:lpstr>PowerPoint Sunusu</vt:lpstr>
      <vt:lpstr>Simulation: Buck Converter Stage</vt:lpstr>
      <vt:lpstr>PowerPoint Sunusu</vt:lpstr>
      <vt:lpstr>Control Strategy (Cascaded Loops)</vt:lpstr>
      <vt:lpstr>Component Selection (Power Stage)</vt:lpstr>
      <vt:lpstr>Microcontroller &amp; Sensing</vt:lpstr>
      <vt:lpstr>Conclusion &amp; Bonus Goals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Mert Sevim</cp:lastModifiedBy>
  <cp:revision>1</cp:revision>
  <dcterms:modified xsi:type="dcterms:W3CDTF">2026-01-11T10:30:46Z</dcterms:modified>
</cp:coreProperties>
</file>